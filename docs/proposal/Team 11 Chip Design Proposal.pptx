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3D094B-961F-4212-9423-8C0FBE051D79}">
  <a:tblStyle styleId="{243D094B-961F-4212-9423-8C0FBE051D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414139b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414139b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4108832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4108832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62049683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62049683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4108832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4108832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4108832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4108832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4108832f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4108832f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4108832f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4108832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Accelerator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 Segimoto, Shang Wang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290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</a:t>
            </a:r>
            <a:r>
              <a:rPr lang="en"/>
              <a:t>Neural</a:t>
            </a:r>
            <a:r>
              <a:rPr lang="en"/>
              <a:t> Network Accelerator</a:t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02050" y="2034288"/>
            <a:ext cx="56496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Goals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261500" y="498450"/>
            <a:ext cx="5488800" cy="22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20">
                <a:solidFill>
                  <a:schemeClr val="dk1"/>
                </a:solidFill>
              </a:rPr>
              <a:t>As the demand for AI and machine learning grows, the need for faster, more efficient computing of models such as neural networks becomes increasingly </a:t>
            </a:r>
            <a:r>
              <a:rPr lang="en" sz="1120">
                <a:solidFill>
                  <a:schemeClr val="dk1"/>
                </a:solidFill>
              </a:rPr>
              <a:t>important</a:t>
            </a:r>
            <a:r>
              <a:rPr lang="en" sz="1120">
                <a:solidFill>
                  <a:schemeClr val="dk1"/>
                </a:solidFill>
              </a:rPr>
              <a:t>.</a:t>
            </a:r>
            <a:br>
              <a:rPr lang="en" sz="1120">
                <a:solidFill>
                  <a:schemeClr val="dk1"/>
                </a:solidFill>
              </a:rPr>
            </a:br>
            <a:endParaRPr sz="112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20">
                <a:solidFill>
                  <a:schemeClr val="dk1"/>
                </a:solidFill>
              </a:rPr>
              <a:t>Neural Networks and </a:t>
            </a:r>
            <a:r>
              <a:rPr lang="en" sz="1120">
                <a:solidFill>
                  <a:schemeClr val="dk1"/>
                </a:solidFill>
              </a:rPr>
              <a:t>machine</a:t>
            </a:r>
            <a:r>
              <a:rPr lang="en" sz="1120">
                <a:solidFill>
                  <a:schemeClr val="dk1"/>
                </a:solidFill>
              </a:rPr>
              <a:t> </a:t>
            </a:r>
            <a:r>
              <a:rPr lang="en" sz="1120">
                <a:solidFill>
                  <a:schemeClr val="dk1"/>
                </a:solidFill>
              </a:rPr>
              <a:t>learning</a:t>
            </a:r>
            <a:r>
              <a:rPr lang="en" sz="1120">
                <a:solidFill>
                  <a:schemeClr val="dk1"/>
                </a:solidFill>
              </a:rPr>
              <a:t> have various edge applications such as real-time image classification, keyword spotting, or anomaly detection rely on fast, low-power inference under tight latency and energy constraints.</a:t>
            </a:r>
            <a:br>
              <a:rPr lang="en" sz="1120">
                <a:solidFill>
                  <a:schemeClr val="dk1"/>
                </a:solidFill>
              </a:rPr>
            </a:br>
            <a:endParaRPr sz="112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20">
                <a:solidFill>
                  <a:schemeClr val="dk1"/>
                </a:solidFill>
              </a:rPr>
              <a:t>By implementing a neural </a:t>
            </a:r>
            <a:r>
              <a:rPr lang="en" sz="1120">
                <a:solidFill>
                  <a:schemeClr val="dk1"/>
                </a:solidFill>
              </a:rPr>
              <a:t>networks</a:t>
            </a:r>
            <a:r>
              <a:rPr lang="en" sz="1120">
                <a:solidFill>
                  <a:schemeClr val="dk1"/>
                </a:solidFill>
              </a:rPr>
              <a:t> on a hardware level including matrix multiplication and activation functions/quantization, performance factors such as latency, power consumption, and area can be greatly optimized.</a:t>
            </a:r>
            <a:endParaRPr sz="11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2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-41275" y="2495452"/>
            <a:ext cx="6296100" cy="22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00">
                <a:solidFill>
                  <a:schemeClr val="dk1"/>
                </a:solidFill>
              </a:rPr>
              <a:t>Design an </a:t>
            </a:r>
            <a:r>
              <a:rPr b="1" lang="en" sz="1100">
                <a:solidFill>
                  <a:schemeClr val="dk1"/>
                </a:solidFill>
              </a:rPr>
              <a:t>8-bit 4×4 matrix multiplier engine</a:t>
            </a:r>
            <a:r>
              <a:rPr lang="en" sz="1100">
                <a:solidFill>
                  <a:schemeClr val="dk1"/>
                </a:solidFill>
              </a:rPr>
              <a:t> (MAC-based systolic array) with a complete </a:t>
            </a:r>
            <a:r>
              <a:rPr b="1" lang="en" sz="1100">
                <a:solidFill>
                  <a:schemeClr val="dk1"/>
                </a:solidFill>
              </a:rPr>
              <a:t>FSM-controlled datapath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00">
                <a:solidFill>
                  <a:schemeClr val="dk1"/>
                </a:solidFill>
              </a:rPr>
              <a:t>Implement </a:t>
            </a:r>
            <a:r>
              <a:rPr b="1" lang="en" sz="1100">
                <a:solidFill>
                  <a:schemeClr val="dk1"/>
                </a:solidFill>
              </a:rPr>
              <a:t>separate SRAM blocks</a:t>
            </a:r>
            <a:r>
              <a:rPr lang="en" sz="1100">
                <a:solidFill>
                  <a:schemeClr val="dk1"/>
                </a:solidFill>
              </a:rPr>
              <a:t> for </a:t>
            </a:r>
            <a:r>
              <a:rPr b="1" lang="en" sz="1100">
                <a:solidFill>
                  <a:schemeClr val="dk1"/>
                </a:solidFill>
              </a:rPr>
              <a:t>weights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activations/bias</a:t>
            </a:r>
            <a:r>
              <a:rPr lang="en" sz="1100">
                <a:solidFill>
                  <a:schemeClr val="dk1"/>
                </a:solidFill>
              </a:rPr>
              <a:t>, including </a:t>
            </a:r>
            <a:r>
              <a:rPr b="1" lang="en" sz="1100">
                <a:solidFill>
                  <a:schemeClr val="dk1"/>
                </a:solidFill>
              </a:rPr>
              <a:t>row/column addressing, precharge, column mux, sense amp, and write driver</a:t>
            </a:r>
            <a:r>
              <a:rPr lang="en" sz="1100">
                <a:solidFill>
                  <a:schemeClr val="dk1"/>
                </a:solidFill>
              </a:rPr>
              <a:t> behavior at the block level.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00">
                <a:solidFill>
                  <a:schemeClr val="dk1"/>
                </a:solidFill>
              </a:rPr>
              <a:t>Implement Matrix </a:t>
            </a:r>
            <a:r>
              <a:rPr lang="en" sz="1100">
                <a:solidFill>
                  <a:schemeClr val="dk1"/>
                </a:solidFill>
              </a:rPr>
              <a:t>multiplication</a:t>
            </a:r>
            <a:r>
              <a:rPr lang="en" sz="1100">
                <a:solidFill>
                  <a:schemeClr val="dk1"/>
                </a:solidFill>
              </a:rPr>
              <a:t> using a </a:t>
            </a:r>
            <a:r>
              <a:rPr b="1" lang="en" sz="1100">
                <a:solidFill>
                  <a:schemeClr val="dk1"/>
                </a:solidFill>
              </a:rPr>
              <a:t>systolic array architecture</a:t>
            </a:r>
            <a:r>
              <a:rPr lang="en" sz="1100">
                <a:solidFill>
                  <a:schemeClr val="dk1"/>
                </a:solidFill>
              </a:rPr>
              <a:t>, which uses parallelism for highly increased throughput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00">
                <a:solidFill>
                  <a:schemeClr val="dk1"/>
                </a:solidFill>
              </a:rPr>
              <a:t>Add an </a:t>
            </a:r>
            <a:r>
              <a:rPr b="1" lang="en" sz="1100">
                <a:solidFill>
                  <a:schemeClr val="dk1"/>
                </a:solidFill>
              </a:rPr>
              <a:t>activation stage (ReLU) + int8 </a:t>
            </a:r>
            <a:r>
              <a:rPr b="1" lang="en" sz="1100">
                <a:solidFill>
                  <a:schemeClr val="dk1"/>
                </a:solidFill>
              </a:rPr>
              <a:t>normalization</a:t>
            </a:r>
            <a:r>
              <a:rPr lang="en" sz="1100">
                <a:solidFill>
                  <a:schemeClr val="dk1"/>
                </a:solidFill>
              </a:rPr>
              <a:t>, then store results in an </a:t>
            </a:r>
            <a:r>
              <a:rPr b="1" lang="en" sz="1100">
                <a:solidFill>
                  <a:schemeClr val="dk1"/>
                </a:solidFill>
              </a:rPr>
              <a:t>output memory</a:t>
            </a:r>
            <a:r>
              <a:rPr lang="en" sz="1100">
                <a:solidFill>
                  <a:schemeClr val="dk1"/>
                </a:solidFill>
              </a:rPr>
              <a:t> with serial I/O interface support.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en" sz="1100">
                <a:solidFill>
                  <a:schemeClr val="dk1"/>
                </a:solidFill>
              </a:rPr>
              <a:t>Verify functionality with </a:t>
            </a:r>
            <a:r>
              <a:rPr b="1" lang="en" sz="1100">
                <a:solidFill>
                  <a:schemeClr val="dk1"/>
                </a:solidFill>
              </a:rPr>
              <a:t>RTL + testbenches</a:t>
            </a:r>
            <a:r>
              <a:rPr lang="en" sz="1100">
                <a:solidFill>
                  <a:schemeClr val="dk1"/>
                </a:solidFill>
              </a:rPr>
              <a:t>, then complete </a:t>
            </a:r>
            <a:r>
              <a:rPr b="1" lang="en" sz="1100">
                <a:solidFill>
                  <a:schemeClr val="dk1"/>
                </a:solidFill>
              </a:rPr>
              <a:t>synthesis and physical flow</a:t>
            </a:r>
            <a:r>
              <a:rPr lang="en" sz="1100">
                <a:solidFill>
                  <a:schemeClr val="dk1"/>
                </a:solidFill>
              </a:rPr>
              <a:t> (Cadence </a:t>
            </a:r>
            <a:r>
              <a:rPr b="1" lang="en" sz="1100">
                <a:solidFill>
                  <a:schemeClr val="dk1"/>
                </a:solidFill>
              </a:rPr>
              <a:t>liberate </a:t>
            </a:r>
            <a:r>
              <a:rPr lang="en" sz="1100">
                <a:solidFill>
                  <a:schemeClr val="dk1"/>
                </a:solidFill>
              </a:rPr>
              <a:t>characterization, </a:t>
            </a:r>
            <a:r>
              <a:rPr b="1" lang="en" sz="1100">
                <a:solidFill>
                  <a:schemeClr val="dk1"/>
                </a:solidFill>
              </a:rPr>
              <a:t>Genus </a:t>
            </a:r>
            <a:r>
              <a:rPr lang="en" sz="1100">
                <a:solidFill>
                  <a:schemeClr val="dk1"/>
                </a:solidFill>
              </a:rPr>
              <a:t>synthesis, </a:t>
            </a:r>
            <a:r>
              <a:rPr b="1" lang="en" sz="1100">
                <a:solidFill>
                  <a:schemeClr val="dk1"/>
                </a:solidFill>
              </a:rPr>
              <a:t>Innovus </a:t>
            </a:r>
            <a:r>
              <a:rPr lang="en" sz="1100">
                <a:solidFill>
                  <a:schemeClr val="dk1"/>
                </a:solidFill>
              </a:rPr>
              <a:t>P&amp;R)</a:t>
            </a:r>
            <a:endParaRPr b="1" sz="11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2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025" y="2768875"/>
            <a:ext cx="2136197" cy="212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767" y="442974"/>
            <a:ext cx="1662283" cy="16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8845" y="730627"/>
            <a:ext cx="1144875" cy="12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</a:t>
            </a:r>
            <a:endParaRPr/>
          </a:p>
        </p:txBody>
      </p:sp>
      <p:pic>
        <p:nvPicPr>
          <p:cNvPr id="72" name="Google Shape;72;p15" title="ChipFlowchart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075" y="1129600"/>
            <a:ext cx="848386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623400" y="6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Array Operation</a:t>
            </a:r>
            <a:endParaRPr/>
          </a:p>
        </p:txBody>
      </p:sp>
      <p:pic>
        <p:nvPicPr>
          <p:cNvPr id="78" name="Google Shape;78;p16" title="S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425" y="110950"/>
            <a:ext cx="4150449" cy="479447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872650" y="966825"/>
            <a:ext cx="541200" cy="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SRAM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78175" y="758875"/>
            <a:ext cx="333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Each block is an 8 bit SRAM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The controller receives row_addr[2:0], col_addr[2:0], and read/write control signals from FSM.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Before every read access, the precharge circuit equalizes and precharges each BL/BLB pair to a known level.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The WL predecode stage converts the row address into intermediate decode signals 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The WL decode asserts exactly one wordline, enabling all cells in the selected row to connect to their BL/BLB pairs.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The sense amplifier resolves and amplifies the BL/BLB differential to produce a stable digital output word.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After the operation, the wordline is deasserted and the array returns to the precharge state for the next access.</a:t>
            </a:r>
            <a:endParaRPr sz="1200"/>
          </a:p>
        </p:txBody>
      </p:sp>
      <p:sp>
        <p:nvSpPr>
          <p:cNvPr id="81" name="Google Shape;81;p16"/>
          <p:cNvSpPr txBox="1"/>
          <p:nvPr/>
        </p:nvSpPr>
        <p:spPr>
          <a:xfrm>
            <a:off x="3779000" y="2024275"/>
            <a:ext cx="186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row_addr[2:0]</a:t>
            </a:r>
            <a:endParaRPr sz="1000"/>
          </a:p>
        </p:txBody>
      </p:sp>
      <p:cxnSp>
        <p:nvCxnSpPr>
          <p:cNvPr id="82" name="Google Shape;82;p16"/>
          <p:cNvCxnSpPr/>
          <p:nvPr/>
        </p:nvCxnSpPr>
        <p:spPr>
          <a:xfrm flipH="1" rot="10800000">
            <a:off x="3873075" y="2341850"/>
            <a:ext cx="7947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6"/>
          <p:cNvSpPr txBox="1"/>
          <p:nvPr/>
        </p:nvSpPr>
        <p:spPr>
          <a:xfrm>
            <a:off x="3779000" y="3702775"/>
            <a:ext cx="186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col</a:t>
            </a:r>
            <a:r>
              <a:rPr lang="en" sz="1000"/>
              <a:t>_addr[2:0]</a:t>
            </a:r>
            <a:endParaRPr sz="1000"/>
          </a:p>
        </p:txBody>
      </p:sp>
      <p:cxnSp>
        <p:nvCxnSpPr>
          <p:cNvPr id="84" name="Google Shape;84;p16"/>
          <p:cNvCxnSpPr/>
          <p:nvPr/>
        </p:nvCxnSpPr>
        <p:spPr>
          <a:xfrm flipH="1" rot="10800000">
            <a:off x="3883125" y="4031450"/>
            <a:ext cx="7845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6"/>
          <p:cNvCxnSpPr/>
          <p:nvPr/>
        </p:nvCxnSpPr>
        <p:spPr>
          <a:xfrm>
            <a:off x="5497075" y="3892225"/>
            <a:ext cx="1869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6"/>
          <p:cNvSpPr txBox="1"/>
          <p:nvPr/>
        </p:nvSpPr>
        <p:spPr>
          <a:xfrm>
            <a:off x="5872650" y="656163"/>
            <a:ext cx="186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0000"/>
                </a:solidFill>
              </a:rPr>
              <a:t>BL BLB</a:t>
            </a:r>
            <a:endParaRPr sz="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0" y="1152475"/>
            <a:ext cx="29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Dot product will be performed using a Systolic Array architecture for high efficiency data flow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Weights are loaded into each MAC unit before computation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Input activations flow to the right and partial sums flow down each clock cycle for data reuse and parallelism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Increased </a:t>
            </a:r>
            <a:r>
              <a:rPr lang="en" sz="1200"/>
              <a:t>throughput compared to individual cell calculations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Inputs will be controlled by external control logic block</a:t>
            </a:r>
            <a:endParaRPr sz="1200"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 Systolic Array Operation</a:t>
            </a:r>
            <a:endParaRPr/>
          </a:p>
        </p:txBody>
      </p:sp>
      <p:pic>
        <p:nvPicPr>
          <p:cNvPr id="93" name="Google Shape;93;p17" title="SystolicArray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600" y="1170125"/>
            <a:ext cx="5913002" cy="37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SystolicArray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1023" y="550875"/>
            <a:ext cx="801495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11198550" y="-80200"/>
            <a:ext cx="49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 using 32 bits use this image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 title="DotProductSi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15513"/>
            <a:ext cx="7511950" cy="41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type="title"/>
          </p:nvPr>
        </p:nvSpPr>
        <p:spPr>
          <a:xfrm>
            <a:off x="152950" y="30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 Simulation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5222939" y="303350"/>
            <a:ext cx="3932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Script </a:t>
            </a:r>
            <a:r>
              <a:rPr lang="en" sz="1800">
                <a:solidFill>
                  <a:schemeClr val="dk2"/>
                </a:solidFill>
              </a:rPr>
              <a:t>implementing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systolic</a:t>
            </a:r>
            <a:r>
              <a:rPr lang="en" sz="1800">
                <a:solidFill>
                  <a:schemeClr val="dk2"/>
                </a:solidFill>
              </a:rPr>
              <a:t> array </a:t>
            </a:r>
            <a:r>
              <a:rPr lang="en" sz="1800">
                <a:solidFill>
                  <a:schemeClr val="dk2"/>
                </a:solidFill>
              </a:rPr>
              <a:t>timing and flow created in matlab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Functionality is verified as output is correct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10175" y="-12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Timeline</a:t>
            </a:r>
            <a:endParaRPr sz="2320"/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102938" y="3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{243D094B-961F-4212-9423-8C0FBE051D79}</a:tableStyleId>
              </a:tblPr>
              <a:tblGrid>
                <a:gridCol w="1707350"/>
                <a:gridCol w="1006425"/>
                <a:gridCol w="1094050"/>
                <a:gridCol w="1115825"/>
                <a:gridCol w="4001175"/>
              </a:tblGrid>
              <a:tr h="33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Task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Start Date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End Date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Assigned to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Description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Design Confirmation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2.15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Both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Determine </a:t>
                      </a:r>
                      <a:r>
                        <a:rPr lang="en" sz="1200"/>
                        <a:t>overall architecture</a:t>
                      </a:r>
                      <a:r>
                        <a:rPr lang="en" sz="1200"/>
                        <a:t>,</a:t>
                      </a:r>
                      <a:r>
                        <a:rPr lang="en" sz="1200"/>
                        <a:t>design specifications</a:t>
                      </a:r>
                      <a:r>
                        <a:rPr lang="en" sz="1200"/>
                        <a:t>,and </a:t>
                      </a:r>
                      <a:r>
                        <a:rPr lang="en" sz="1200"/>
                        <a:t>performance goals before starting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Verilog Coding and Simulation for Memory Array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2.15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2.20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Shang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Implement the memory controller RTL, write a testbench, and run simulation to verify control/timing via waveforms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Verilog Coding and Simulation for Memory Controller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2.21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2.28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Shang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Implement the memory array RTL, write a testbench, and run simulation to verify correctness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Verilog Coding and Simulation for Matrix multiplier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2.15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r>
                        <a:rPr lang="en" sz="1200"/>
                        <a:t>.22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Kai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Implement the matrix multiplier RTL, write a testbench, and simulate to validate outputs and latency against </a:t>
                      </a:r>
                      <a:r>
                        <a:rPr lang="en" sz="1200"/>
                        <a:t>theoretical value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Verilog Coding and Simulation for Activation unit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r>
                        <a:rPr lang="en" sz="1200"/>
                        <a:t>.23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2.28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Kai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Implement the activation RTL, write a testbench, and simulate to verify mapping and overflow behavior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87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Verilog Coding and Simulation for FSM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r>
                        <a:rPr lang="en" sz="1200"/>
                        <a:t>.1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3.9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Both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Implement the top-level FSM to coordinate modules, write an integration testbench, and simulate to verify end-to-end sequencing and state transitions.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20"/>
          <p:cNvGraphicFramePr/>
          <p:nvPr/>
        </p:nvGraphicFramePr>
        <p:xfrm>
          <a:off x="128925" y="8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{243D094B-961F-4212-9423-8C0FBE051D79}</a:tableStyleId>
              </a:tblPr>
              <a:tblGrid>
                <a:gridCol w="1826975"/>
                <a:gridCol w="1099175"/>
                <a:gridCol w="1029675"/>
                <a:gridCol w="1213575"/>
                <a:gridCol w="3787675"/>
              </a:tblGrid>
              <a:tr h="39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Task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Start Date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End Date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Assigned to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Description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Verilog Coding and Simulation for Top Level Integration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3.10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3.16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Both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Integrate all RTL modules at the top level, connect interfaces, and run simulations to confirm signal connectivity and control flow.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Create SRAM Macro. Schematic + Layout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3.12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3.25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Kai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Create SRAM macro to be used for verilog code, generate .lib and .lef files.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75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Make and characterize standard cell library in Cadence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3.17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3.25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/>
                        <a:t>Shang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Create the </a:t>
                      </a:r>
                      <a:r>
                        <a:rPr b="1" lang="en" sz="1200"/>
                        <a:t>standard cells</a:t>
                      </a:r>
                      <a:r>
                        <a:rPr lang="en" sz="1200"/>
                        <a:t> and characterize them using Cadence Liberate to generate .lib models.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72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Synthesize</a:t>
                      </a:r>
                      <a:r>
                        <a:rPr lang="en" sz="1200"/>
                        <a:t> verilog, port to Cadence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3.26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4.3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Both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Set up and run synthesis to produce the </a:t>
                      </a:r>
                      <a:r>
                        <a:rPr b="1" lang="en" sz="1200"/>
                        <a:t>gate-level netlist </a:t>
                      </a:r>
                      <a:r>
                        <a:rPr lang="en" sz="1200"/>
                        <a:t>and required </a:t>
                      </a:r>
                      <a:r>
                        <a:rPr b="1" lang="en" sz="1200"/>
                        <a:t>library/PDK files</a:t>
                      </a:r>
                      <a:r>
                        <a:rPr lang="en" sz="1200"/>
                        <a:t> for the Cadence digital flow.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76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Run and verify Innovus flow layout. Import DEF file  into virtuoso. Fix DRC, LVS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4.4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</a:t>
                      </a: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Both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fix </a:t>
                      </a:r>
                      <a:r>
                        <a:rPr b="1" lang="en" sz="1200"/>
                        <a:t>DRC/LVS</a:t>
                      </a:r>
                      <a:r>
                        <a:rPr lang="en" sz="1200"/>
                        <a:t>: Run Innovus P&amp;R, check timing/DRC/LVS, export DEF, import into Virtuoso, and resolve DRC/LVS/antenna issues.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88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Final Confirmation and Tape Out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4.13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4.20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Both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Perform clean DRC/LVS and required post-layout checks and generate the final deliverables for tape-out submission.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