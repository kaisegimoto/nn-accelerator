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Gill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ill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64234f99a_5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64234f99a_5_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64234f99a_5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64234f99a_5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64234f99a_5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d64234f99a_5_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64234f99a_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64234f99a_3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80806a22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d80806a22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80806a22d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80806a22d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80806a22d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80806a22d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64234f99a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d64234f99a_3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64234f99a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64234f99a_3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64234f99a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64234f99a_3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64234f99a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d64234f99a_3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 Slide">
  <p:cSld name="1_Divider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-56445" y="5"/>
            <a:ext cx="9206200" cy="51514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2-line-whitetext-colorshield.png"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5599" y="4296762"/>
            <a:ext cx="1769927" cy="650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 amt="9000"/>
          </a:blip>
          <a:srcRect b="0" l="0" r="0" t="0"/>
          <a:stretch/>
        </p:blipFill>
        <p:spPr>
          <a:xfrm>
            <a:off x="199388" y="151675"/>
            <a:ext cx="3080816" cy="345772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958151" y="3255792"/>
            <a:ext cx="73970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62" name="Google Shape;62;p14"/>
          <p:cNvGrpSpPr/>
          <p:nvPr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63" name="Google Shape;63;p14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9" name="Google Shape;69;p15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70" name="Google Shape;70;p15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57200" y="1104904"/>
            <a:ext cx="8082552" cy="348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9" y="0"/>
            <a:ext cx="9143999" cy="5143500"/>
          </a:xfrm>
          <a:prstGeom prst="rect">
            <a:avLst/>
          </a:prstGeom>
          <a:solidFill>
            <a:srgbClr val="D7D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80" name="Google Shape;80;p16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1-line-bluetext-colorshield.png" id="83" name="Google Shape;8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699003"/>
            <a:ext cx="1809092" cy="34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88" name="Google Shape;88;p17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89" name="Google Shape;89;p17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line-bluetext-colorshield.png" id="93" name="Google Shape;93;p18"/>
          <p:cNvPicPr preferRelativeResize="0"/>
          <p:nvPr/>
        </p:nvPicPr>
        <p:blipFill rotWithShape="1">
          <a:blip r:embed="rId2">
            <a:alphaModFix/>
          </a:blip>
          <a:srcRect b="-1906" l="-1" r="-157" t="0"/>
          <a:stretch/>
        </p:blipFill>
        <p:spPr>
          <a:xfrm>
            <a:off x="6585599" y="4296761"/>
            <a:ext cx="1769927" cy="656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ennwatermark.pdf" id="94" name="Google Shape;94;p18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199388" y="136510"/>
            <a:ext cx="3080816" cy="347289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subTitle"/>
          </p:nvPr>
        </p:nvSpPr>
        <p:spPr>
          <a:xfrm>
            <a:off x="958151" y="3255792"/>
            <a:ext cx="7397039" cy="658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97" name="Google Shape;97;p18"/>
          <p:cNvGrpSpPr/>
          <p:nvPr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98" name="Google Shape;98;p18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01" name="Google Shape;101;p18"/>
          <p:cNvSpPr/>
          <p:nvPr/>
        </p:nvSpPr>
        <p:spPr>
          <a:xfrm>
            <a:off x="254010" y="4572000"/>
            <a:ext cx="2243667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103" name="Google Shape;103;p19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6156" cy="374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107" name="Google Shape;107;p19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08" name="Google Shape;108;p19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>
            <p:ph idx="2" type="pic"/>
          </p:nvPr>
        </p:nvSpPr>
        <p:spPr>
          <a:xfrm>
            <a:off x="4811889" y="1066670"/>
            <a:ext cx="3874912" cy="3527953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57200" y="106666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0"/>
          <p:cNvSpPr txBox="1"/>
          <p:nvPr>
            <p:ph idx="3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7" name="Google Shape;117;p20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18" name="Google Shape;118;p20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20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0" name="Google Shape;120;p20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mparison">
  <p:cSld name="4_Comparison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122" name="Google Shape;122;p21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8896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>
            <p:ph idx="2" type="pic"/>
          </p:nvPr>
        </p:nvSpPr>
        <p:spPr>
          <a:xfrm>
            <a:off x="4811889" y="1066670"/>
            <a:ext cx="3874912" cy="3527953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57200" y="106666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21"/>
          <p:cNvSpPr txBox="1"/>
          <p:nvPr>
            <p:ph idx="3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8" name="Google Shape;128;p21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29" name="Google Shape;129;p21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457200" y="1104904"/>
            <a:ext cx="4038600" cy="348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4" name="Google Shape;134;p22"/>
          <p:cNvSpPr txBox="1"/>
          <p:nvPr>
            <p:ph idx="2" type="body"/>
          </p:nvPr>
        </p:nvSpPr>
        <p:spPr>
          <a:xfrm>
            <a:off x="4648200" y="1104902"/>
            <a:ext cx="4038600" cy="3489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36" name="Google Shape;136;p22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7" name="Google Shape;137;p22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38" name="Google Shape;138;p22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22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22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457200" y="1067992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p23"/>
          <p:cNvSpPr txBox="1"/>
          <p:nvPr>
            <p:ph idx="2" type="body"/>
          </p:nvPr>
        </p:nvSpPr>
        <p:spPr>
          <a:xfrm>
            <a:off x="457200" y="1546495"/>
            <a:ext cx="4040188" cy="304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4" name="Google Shape;144;p23"/>
          <p:cNvSpPr txBox="1"/>
          <p:nvPr>
            <p:ph idx="3" type="body"/>
          </p:nvPr>
        </p:nvSpPr>
        <p:spPr>
          <a:xfrm>
            <a:off x="4645033" y="1066669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23"/>
          <p:cNvSpPr txBox="1"/>
          <p:nvPr>
            <p:ph idx="4" type="body"/>
          </p:nvPr>
        </p:nvSpPr>
        <p:spPr>
          <a:xfrm>
            <a:off x="4645033" y="1546495"/>
            <a:ext cx="4041775" cy="304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8" name="Google Shape;148;p23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9" name="Google Shape;149;p23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sidebar">
  <p:cSld name="Content and sidebar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6142182" y="1782939"/>
            <a:ext cx="254462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24"/>
          <p:cNvSpPr txBox="1"/>
          <p:nvPr>
            <p:ph idx="2" type="body"/>
          </p:nvPr>
        </p:nvSpPr>
        <p:spPr>
          <a:xfrm>
            <a:off x="6142182" y="2310651"/>
            <a:ext cx="2544621" cy="2282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7" name="Google Shape;157;p24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58" name="Google Shape;158;p24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9" name="Google Shape;159;p24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0" name="Google Shape;160;p24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161" name="Google Shape;161;p24"/>
          <p:cNvCxnSpPr/>
          <p:nvPr/>
        </p:nvCxnSpPr>
        <p:spPr>
          <a:xfrm>
            <a:off x="5908842" y="1099992"/>
            <a:ext cx="0" cy="3599013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24"/>
          <p:cNvSpPr txBox="1"/>
          <p:nvPr>
            <p:ph idx="3" type="body"/>
          </p:nvPr>
        </p:nvSpPr>
        <p:spPr>
          <a:xfrm>
            <a:off x="310162" y="148515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3" name="Google Shape;163;p24"/>
          <p:cNvSpPr txBox="1"/>
          <p:nvPr>
            <p:ph idx="4" type="body"/>
          </p:nvPr>
        </p:nvSpPr>
        <p:spPr>
          <a:xfrm>
            <a:off x="310162" y="180834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4" name="Google Shape;164;p24"/>
          <p:cNvSpPr txBox="1"/>
          <p:nvPr>
            <p:ph idx="5" type="body"/>
          </p:nvPr>
        </p:nvSpPr>
        <p:spPr>
          <a:xfrm>
            <a:off x="310162" y="235369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5" name="Google Shape;165;p24"/>
          <p:cNvSpPr txBox="1"/>
          <p:nvPr>
            <p:ph idx="6" type="body"/>
          </p:nvPr>
        </p:nvSpPr>
        <p:spPr>
          <a:xfrm>
            <a:off x="310162" y="267688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6" name="Google Shape;166;p24"/>
          <p:cNvSpPr txBox="1"/>
          <p:nvPr>
            <p:ph idx="7" type="body"/>
          </p:nvPr>
        </p:nvSpPr>
        <p:spPr>
          <a:xfrm>
            <a:off x="310162" y="3191895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7" name="Google Shape;167;p24"/>
          <p:cNvSpPr txBox="1"/>
          <p:nvPr>
            <p:ph idx="8" type="body"/>
          </p:nvPr>
        </p:nvSpPr>
        <p:spPr>
          <a:xfrm>
            <a:off x="310162" y="351508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8" name="Google Shape;168;p24"/>
          <p:cNvSpPr txBox="1"/>
          <p:nvPr>
            <p:ph idx="9" type="body"/>
          </p:nvPr>
        </p:nvSpPr>
        <p:spPr>
          <a:xfrm>
            <a:off x="309033" y="965872"/>
            <a:ext cx="5295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>
                <a:solidFill>
                  <a:srgbClr val="00144D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">
  <p:cSld name="Metric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71" name="Google Shape;171;p25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2" name="Google Shape;172;p25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73" name="Google Shape;173;p25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4" name="Google Shape;174;p25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5" name="Google Shape;175;p25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6" name="Google Shape;176;p25"/>
          <p:cNvSpPr/>
          <p:nvPr/>
        </p:nvSpPr>
        <p:spPr>
          <a:xfrm>
            <a:off x="457210" y="1110136"/>
            <a:ext cx="2198255" cy="10297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457209" y="1110132"/>
            <a:ext cx="2198255" cy="475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78" name="Google Shape;178;p25"/>
          <p:cNvGrpSpPr/>
          <p:nvPr/>
        </p:nvGrpSpPr>
        <p:grpSpPr>
          <a:xfrm>
            <a:off x="457198" y="2210973"/>
            <a:ext cx="3035300" cy="1029799"/>
            <a:chOff x="457198" y="2913323"/>
            <a:chExt cx="3035300" cy="1373065"/>
          </a:xfrm>
        </p:grpSpPr>
        <p:sp>
          <p:nvSpPr>
            <p:cNvPr id="179" name="Google Shape;179;p25"/>
            <p:cNvSpPr/>
            <p:nvPr/>
          </p:nvSpPr>
          <p:spPr>
            <a:xfrm>
              <a:off x="457199" y="2913323"/>
              <a:ext cx="3035299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457198" y="2913323"/>
              <a:ext cx="3035300" cy="6334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81" name="Google Shape;181;p25"/>
          <p:cNvGrpSpPr/>
          <p:nvPr/>
        </p:nvGrpSpPr>
        <p:grpSpPr>
          <a:xfrm>
            <a:off x="457199" y="3303510"/>
            <a:ext cx="8181976" cy="1029799"/>
            <a:chOff x="457199" y="4370039"/>
            <a:chExt cx="8181976" cy="1373065"/>
          </a:xfrm>
        </p:grpSpPr>
        <p:sp>
          <p:nvSpPr>
            <p:cNvPr id="182" name="Google Shape;182;p25"/>
            <p:cNvSpPr/>
            <p:nvPr/>
          </p:nvSpPr>
          <p:spPr>
            <a:xfrm>
              <a:off x="457199" y="4370039"/>
              <a:ext cx="8181976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457199" y="4370039"/>
              <a:ext cx="8181975" cy="6334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84" name="Google Shape;184;p25"/>
          <p:cNvGrpSpPr/>
          <p:nvPr/>
        </p:nvGrpSpPr>
        <p:grpSpPr>
          <a:xfrm>
            <a:off x="2746375" y="1110136"/>
            <a:ext cx="2762250" cy="1029799"/>
            <a:chOff x="2746375" y="1480176"/>
            <a:chExt cx="2762250" cy="1373065"/>
          </a:xfrm>
        </p:grpSpPr>
        <p:sp>
          <p:nvSpPr>
            <p:cNvPr id="185" name="Google Shape;185;p25"/>
            <p:cNvSpPr/>
            <p:nvPr/>
          </p:nvSpPr>
          <p:spPr>
            <a:xfrm>
              <a:off x="2746375" y="1480176"/>
              <a:ext cx="2762250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2746375" y="1480176"/>
              <a:ext cx="2762250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87" name="Google Shape;187;p25"/>
          <p:cNvGrpSpPr/>
          <p:nvPr/>
        </p:nvGrpSpPr>
        <p:grpSpPr>
          <a:xfrm>
            <a:off x="5611092" y="1110136"/>
            <a:ext cx="3028082" cy="1029799"/>
            <a:chOff x="5556249" y="1480176"/>
            <a:chExt cx="3082926" cy="1373065"/>
          </a:xfrm>
        </p:grpSpPr>
        <p:sp>
          <p:nvSpPr>
            <p:cNvPr id="188" name="Google Shape;188;p25"/>
            <p:cNvSpPr/>
            <p:nvPr/>
          </p:nvSpPr>
          <p:spPr>
            <a:xfrm>
              <a:off x="5556250" y="1480176"/>
              <a:ext cx="3082925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5556249" y="1480176"/>
              <a:ext cx="3082925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90" name="Google Shape;190;p25"/>
          <p:cNvGrpSpPr/>
          <p:nvPr/>
        </p:nvGrpSpPr>
        <p:grpSpPr>
          <a:xfrm>
            <a:off x="3582730" y="2210973"/>
            <a:ext cx="5056446" cy="1029799"/>
            <a:chOff x="3556000" y="2913323"/>
            <a:chExt cx="5083175" cy="1373065"/>
          </a:xfrm>
        </p:grpSpPr>
        <p:sp>
          <p:nvSpPr>
            <p:cNvPr id="191" name="Google Shape;191;p25"/>
            <p:cNvSpPr/>
            <p:nvPr/>
          </p:nvSpPr>
          <p:spPr>
            <a:xfrm>
              <a:off x="3556000" y="2913323"/>
              <a:ext cx="5083175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3556000" y="2913323"/>
              <a:ext cx="5083174" cy="6334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457201" y="1197944"/>
            <a:ext cx="2198254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p25"/>
          <p:cNvSpPr txBox="1"/>
          <p:nvPr>
            <p:ph idx="2" type="body"/>
          </p:nvPr>
        </p:nvSpPr>
        <p:spPr>
          <a:xfrm>
            <a:off x="457210" y="1775180"/>
            <a:ext cx="2198255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5" name="Google Shape;195;p25"/>
          <p:cNvSpPr txBox="1"/>
          <p:nvPr>
            <p:ph idx="3" type="body"/>
          </p:nvPr>
        </p:nvSpPr>
        <p:spPr>
          <a:xfrm>
            <a:off x="2746376" y="1197944"/>
            <a:ext cx="2762250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p25"/>
          <p:cNvSpPr txBox="1"/>
          <p:nvPr>
            <p:ph idx="4" type="body"/>
          </p:nvPr>
        </p:nvSpPr>
        <p:spPr>
          <a:xfrm>
            <a:off x="2746378" y="1775180"/>
            <a:ext cx="276225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7" name="Google Shape;197;p25"/>
          <p:cNvSpPr txBox="1"/>
          <p:nvPr>
            <p:ph idx="5" type="body"/>
          </p:nvPr>
        </p:nvSpPr>
        <p:spPr>
          <a:xfrm>
            <a:off x="5611093" y="1197944"/>
            <a:ext cx="3028080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8" name="Google Shape;198;p25"/>
          <p:cNvSpPr txBox="1"/>
          <p:nvPr>
            <p:ph idx="6" type="body"/>
          </p:nvPr>
        </p:nvSpPr>
        <p:spPr>
          <a:xfrm>
            <a:off x="5611099" y="1775180"/>
            <a:ext cx="30280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9" name="Google Shape;199;p25"/>
          <p:cNvSpPr txBox="1"/>
          <p:nvPr>
            <p:ph idx="7" type="body"/>
          </p:nvPr>
        </p:nvSpPr>
        <p:spPr>
          <a:xfrm>
            <a:off x="3582731" y="2283875"/>
            <a:ext cx="5056442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0" name="Google Shape;200;p25"/>
          <p:cNvSpPr txBox="1"/>
          <p:nvPr>
            <p:ph idx="8" type="body"/>
          </p:nvPr>
        </p:nvSpPr>
        <p:spPr>
          <a:xfrm>
            <a:off x="3582730" y="2861109"/>
            <a:ext cx="5056446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1" name="Google Shape;201;p25"/>
          <p:cNvSpPr txBox="1"/>
          <p:nvPr>
            <p:ph idx="9" type="body"/>
          </p:nvPr>
        </p:nvSpPr>
        <p:spPr>
          <a:xfrm>
            <a:off x="457200" y="2283875"/>
            <a:ext cx="3035298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2" name="Google Shape;202;p25"/>
          <p:cNvSpPr txBox="1"/>
          <p:nvPr>
            <p:ph idx="13" type="body"/>
          </p:nvPr>
        </p:nvSpPr>
        <p:spPr>
          <a:xfrm>
            <a:off x="457206" y="2861109"/>
            <a:ext cx="3035299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3" name="Google Shape;203;p25"/>
          <p:cNvSpPr txBox="1"/>
          <p:nvPr>
            <p:ph idx="14" type="body"/>
          </p:nvPr>
        </p:nvSpPr>
        <p:spPr>
          <a:xfrm>
            <a:off x="457201" y="3385708"/>
            <a:ext cx="8181972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4" name="Google Shape;204;p25"/>
          <p:cNvSpPr txBox="1"/>
          <p:nvPr>
            <p:ph idx="15" type="body"/>
          </p:nvPr>
        </p:nvSpPr>
        <p:spPr>
          <a:xfrm>
            <a:off x="457197" y="3962944"/>
            <a:ext cx="8181980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">
  <p:cSld name="Venn Diagram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/>
          <p:nvPr/>
        </p:nvSpPr>
        <p:spPr>
          <a:xfrm>
            <a:off x="1602040" y="1009064"/>
            <a:ext cx="3742766" cy="37410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3764025" y="997539"/>
            <a:ext cx="3742766" cy="3742764"/>
          </a:xfrm>
          <a:prstGeom prst="ellipse">
            <a:avLst/>
          </a:prstGeom>
          <a:solidFill>
            <a:schemeClr val="accent3">
              <a:alpha val="7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11" name="Google Shape;211;p27"/>
          <p:cNvSpPr txBox="1"/>
          <p:nvPr>
            <p:ph type="title"/>
          </p:nvPr>
        </p:nvSpPr>
        <p:spPr>
          <a:xfrm>
            <a:off x="1622280" y="2589950"/>
            <a:ext cx="1947510" cy="652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2" name="Google Shape;212;p27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213" name="Google Shape;213;p27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310162" y="0"/>
            <a:ext cx="7986713" cy="70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27"/>
          <p:cNvSpPr txBox="1"/>
          <p:nvPr>
            <p:ph idx="2" type="body"/>
          </p:nvPr>
        </p:nvSpPr>
        <p:spPr>
          <a:xfrm>
            <a:off x="3569790" y="2589610"/>
            <a:ext cx="19685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3" type="body"/>
          </p:nvPr>
        </p:nvSpPr>
        <p:spPr>
          <a:xfrm>
            <a:off x="5538290" y="2589610"/>
            <a:ext cx="19685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239899" y="4582584"/>
            <a:ext cx="2229555" cy="3902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1" name="Google Shape;221;p28"/>
          <p:cNvSpPr/>
          <p:nvPr>
            <p:ph idx="2" type="pic"/>
          </p:nvPr>
        </p:nvSpPr>
        <p:spPr>
          <a:xfrm>
            <a:off x="-15075" y="0"/>
            <a:ext cx="9186334" cy="4185826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28"/>
          <p:cNvSpPr/>
          <p:nvPr/>
        </p:nvSpPr>
        <p:spPr>
          <a:xfrm>
            <a:off x="-42334" y="4233334"/>
            <a:ext cx="9242778" cy="9165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465844" y="4471120"/>
            <a:ext cx="5813600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225" name="Google Shape;225;p28"/>
          <p:cNvGrpSpPr/>
          <p:nvPr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226" name="Google Shape;226;p28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/>
          <p:nvPr/>
        </p:nvSpPr>
        <p:spPr>
          <a:xfrm>
            <a:off x="312469" y="4593469"/>
            <a:ext cx="2229555" cy="5282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29"/>
          <p:cNvSpPr/>
          <p:nvPr>
            <p:ph idx="2" type="pic"/>
          </p:nvPr>
        </p:nvSpPr>
        <p:spPr>
          <a:xfrm>
            <a:off x="-14817" y="0"/>
            <a:ext cx="9186334" cy="4185826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465844" y="4471120"/>
            <a:ext cx="5813600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3" name="Google Shape;233;p29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234" name="Google Shape;234;p29"/>
          <p:cNvGrpSpPr/>
          <p:nvPr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235" name="Google Shape;235;p29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/>
          <p:nvPr/>
        </p:nvSpPr>
        <p:spPr>
          <a:xfrm>
            <a:off x="363798" y="4553643"/>
            <a:ext cx="2229555" cy="5898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0" name="Google Shape;240;p30"/>
          <p:cNvSpPr/>
          <p:nvPr>
            <p:ph idx="2" type="pic"/>
          </p:nvPr>
        </p:nvSpPr>
        <p:spPr>
          <a:xfrm>
            <a:off x="-25400" y="1011586"/>
            <a:ext cx="9186334" cy="4138319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0"/>
          <p:cNvSpPr/>
          <p:nvPr/>
        </p:nvSpPr>
        <p:spPr>
          <a:xfrm>
            <a:off x="-21167" y="-3292"/>
            <a:ext cx="9178768" cy="9673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465844" y="231435"/>
            <a:ext cx="8220956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244" name="Google Shape;244;p30"/>
          <p:cNvGrpSpPr/>
          <p:nvPr/>
        </p:nvGrpSpPr>
        <p:grpSpPr>
          <a:xfrm>
            <a:off x="-21168" y="964078"/>
            <a:ext cx="9175834" cy="47507"/>
            <a:chOff x="685800" y="1794746"/>
            <a:chExt cx="7772400" cy="179475"/>
          </a:xfrm>
        </p:grpSpPr>
        <p:sp>
          <p:nvSpPr>
            <p:cNvPr id="245" name="Google Shape;245;p30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line-bluetext-colorshield.png"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4699003"/>
            <a:ext cx="180909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30464" y="102970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23520" y="-19089"/>
            <a:ext cx="8229600" cy="7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95001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zh-CN"/>
              <a:t>Neural Network Accelerator</a:t>
            </a:r>
            <a:br>
              <a:rPr lang="zh-CN"/>
            </a:br>
            <a:r>
              <a:rPr lang="zh-CN" sz="2600"/>
              <a:t>Team 11</a:t>
            </a:r>
            <a:br>
              <a:rPr lang="zh-CN" sz="2600"/>
            </a:br>
            <a:r>
              <a:rPr lang="zh-CN" sz="2600"/>
              <a:t>Kai Segimoto, Shang Wang</a:t>
            </a:r>
            <a:endParaRPr sz="2600"/>
          </a:p>
        </p:txBody>
      </p:sp>
      <p:sp>
        <p:nvSpPr>
          <p:cNvPr id="253" name="Google Shape;253;p31"/>
          <p:cNvSpPr txBox="1"/>
          <p:nvPr>
            <p:ph idx="1" type="subTitle"/>
          </p:nvPr>
        </p:nvSpPr>
        <p:spPr>
          <a:xfrm>
            <a:off x="958151" y="3255792"/>
            <a:ext cx="73970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ts val="2400"/>
              <a:buNone/>
            </a:pPr>
            <a:r>
              <a:rPr lang="zh-CN"/>
              <a:t>ESE 5730 Spring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59" name="Google Shape;259;p32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zh-CN"/>
              <a:t>Importance &amp; Design Goals</a:t>
            </a:r>
            <a:endParaRPr/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625" y="2459025"/>
            <a:ext cx="4772376" cy="268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/>
          <p:nvPr/>
        </p:nvSpPr>
        <p:spPr>
          <a:xfrm>
            <a:off x="5539750" y="6411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Matrix Multiplication</a:t>
            </a:r>
            <a:endParaRPr sz="7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204125" y="798625"/>
            <a:ext cx="5011500" cy="18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Our chip is a small hardware accelerator for </a:t>
            </a:r>
            <a:r>
              <a:rPr b="1"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matrix multiplication</a:t>
            </a: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 which is the core operation used in many neural network and AI workloads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Char char="●"/>
            </a:pP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chip  takes </a:t>
            </a:r>
            <a:r>
              <a:rPr b="1"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activation matrix, a weight matrix, and a bias matrix,</a:t>
            </a: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then computes the output matrix using a compact </a:t>
            </a: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binary</a:t>
            </a: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systolic array and binary quantization.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97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Gill Sans"/>
              <a:buChar char="●"/>
            </a:pP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This type of accelerator can be used in low-power edge AI applications such as edge inference, image classification, sensor processing, and embedded neural network systems.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5215625" y="946350"/>
            <a:ext cx="3431700" cy="25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Char char="●"/>
            </a:pP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Implement Matrix multiplication using a </a:t>
            </a:r>
            <a:r>
              <a:rPr b="1"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systolic array architecture</a:t>
            </a: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 which uses parallelism for highly increased throughput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Gill Sans"/>
              <a:buChar char="●"/>
            </a:pPr>
            <a:r>
              <a:rPr lang="zh-C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an activation stage (ReLU) + quantization, then store results in an output memory with serial I/O interface support.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0">
              <a:solidFill>
                <a:srgbClr val="59595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64" name="Google Shape;26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95" y="3282589"/>
            <a:ext cx="1144875" cy="12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8949" y="3079865"/>
            <a:ext cx="1662276" cy="1652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zh-CN"/>
              <a:t>Block Diagram</a:t>
            </a:r>
            <a:endParaRPr/>
          </a:p>
        </p:txBody>
      </p:sp>
      <p:pic>
        <p:nvPicPr>
          <p:cNvPr id="272" name="Google Shape;2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900" y="891550"/>
            <a:ext cx="6246199" cy="36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zh-CN"/>
              <a:t>Top Level Schematics</a:t>
            </a:r>
            <a:endParaRPr/>
          </a:p>
        </p:txBody>
      </p:sp>
      <p:pic>
        <p:nvPicPr>
          <p:cNvPr id="278" name="Google Shape;278;p34"/>
          <p:cNvPicPr preferRelativeResize="0"/>
          <p:nvPr/>
        </p:nvPicPr>
        <p:blipFill rotWithShape="1">
          <a:blip r:embed="rId3">
            <a:alphaModFix/>
          </a:blip>
          <a:srcRect b="8888" l="30415" r="11452" t="10971"/>
          <a:stretch/>
        </p:blipFill>
        <p:spPr>
          <a:xfrm>
            <a:off x="0" y="1319113"/>
            <a:ext cx="3001225" cy="237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4"/>
          <p:cNvPicPr preferRelativeResize="0"/>
          <p:nvPr/>
        </p:nvPicPr>
        <p:blipFill rotWithShape="1">
          <a:blip r:embed="rId4">
            <a:alphaModFix/>
          </a:blip>
          <a:srcRect b="8261" l="15383" r="1283" t="14531"/>
          <a:stretch/>
        </p:blipFill>
        <p:spPr>
          <a:xfrm>
            <a:off x="3039525" y="1291163"/>
            <a:ext cx="6048375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4"/>
          <p:cNvSpPr txBox="1"/>
          <p:nvPr/>
        </p:nvSpPr>
        <p:spPr>
          <a:xfrm>
            <a:off x="-61325" y="4282850"/>
            <a:ext cx="326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</a:rPr>
              <a:t>Schematic generated by Genus</a:t>
            </a:r>
            <a:endParaRPr/>
          </a:p>
        </p:txBody>
      </p:sp>
      <p:sp>
        <p:nvSpPr>
          <p:cNvPr id="281" name="Google Shape;281;p34"/>
          <p:cNvSpPr txBox="1"/>
          <p:nvPr/>
        </p:nvSpPr>
        <p:spPr>
          <a:xfrm>
            <a:off x="5341013" y="4434425"/>
            <a:ext cx="326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</a:rPr>
              <a:t>Top-level schematic</a:t>
            </a:r>
            <a:endParaRPr/>
          </a:p>
        </p:txBody>
      </p:sp>
      <p:sp>
        <p:nvSpPr>
          <p:cNvPr id="282" name="Google Shape;282;p34"/>
          <p:cNvSpPr txBox="1"/>
          <p:nvPr/>
        </p:nvSpPr>
        <p:spPr>
          <a:xfrm>
            <a:off x="414100" y="863975"/>
            <a:ext cx="69477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83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Import gate level .v netlist and .def physical layout files into virtuoso</a:t>
            </a:r>
            <a:endParaRPr sz="1383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Functional Simulation</a:t>
            </a:r>
            <a:endParaRPr/>
          </a:p>
        </p:txBody>
      </p:sp>
      <p:pic>
        <p:nvPicPr>
          <p:cNvPr id="288" name="Google Shape;2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1475"/>
            <a:ext cx="8861549" cy="375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Functional</a:t>
            </a:r>
            <a:r>
              <a:rPr lang="zh-CN"/>
              <a:t> Simulation</a:t>
            </a:r>
            <a:endParaRPr/>
          </a:p>
        </p:txBody>
      </p:sp>
      <p:pic>
        <p:nvPicPr>
          <p:cNvPr id="294" name="Google Shape;29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1485"/>
            <a:ext cx="8839198" cy="37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Power/Area Reports</a:t>
            </a:r>
            <a:endParaRPr/>
          </a:p>
        </p:txBody>
      </p:sp>
      <p:pic>
        <p:nvPicPr>
          <p:cNvPr id="300" name="Google Shape;3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50" y="1466928"/>
            <a:ext cx="4761700" cy="22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7"/>
          <p:cNvPicPr preferRelativeResize="0"/>
          <p:nvPr/>
        </p:nvPicPr>
        <p:blipFill rotWithShape="1">
          <a:blip r:embed="rId4">
            <a:alphaModFix/>
          </a:blip>
          <a:srcRect b="0" l="0" r="40476" t="0"/>
          <a:stretch/>
        </p:blipFill>
        <p:spPr>
          <a:xfrm>
            <a:off x="5468625" y="961925"/>
            <a:ext cx="3212300" cy="32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7"/>
          <p:cNvSpPr txBox="1"/>
          <p:nvPr/>
        </p:nvSpPr>
        <p:spPr>
          <a:xfrm>
            <a:off x="876558" y="3808984"/>
            <a:ext cx="3533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83">
                <a:solidFill>
                  <a:schemeClr val="dk1"/>
                </a:solidFill>
              </a:rPr>
              <a:t>~.336 mW power consumption </a:t>
            </a:r>
            <a:endParaRPr sz="121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zh-CN"/>
              <a:t>Chip finalization</a:t>
            </a:r>
            <a:endParaRPr/>
          </a:p>
        </p:txBody>
      </p:sp>
      <p:pic>
        <p:nvPicPr>
          <p:cNvPr id="308" name="Google Shape;3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50" y="1304849"/>
            <a:ext cx="2076480" cy="296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8749" y="840100"/>
            <a:ext cx="5337401" cy="1808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2423" y="2807157"/>
            <a:ext cx="5273728" cy="1655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8"/>
          <p:cNvSpPr txBox="1"/>
          <p:nvPr/>
        </p:nvSpPr>
        <p:spPr>
          <a:xfrm>
            <a:off x="933148" y="4374641"/>
            <a:ext cx="15819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18">
                <a:solidFill>
                  <a:schemeClr val="dk1"/>
                </a:solidFill>
              </a:rPr>
              <a:t>Verilog code</a:t>
            </a:r>
            <a:endParaRPr sz="1418">
              <a:solidFill>
                <a:schemeClr val="dk1"/>
              </a:solidFill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4766524" y="4462841"/>
            <a:ext cx="2482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18">
                <a:solidFill>
                  <a:schemeClr val="dk1"/>
                </a:solidFill>
              </a:rPr>
              <a:t>Top level RTL simulation</a:t>
            </a:r>
            <a:endParaRPr sz="141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zh-CN"/>
              <a:t>Chip finalization</a:t>
            </a:r>
            <a:endParaRPr/>
          </a:p>
        </p:txBody>
      </p:sp>
      <p:sp>
        <p:nvSpPr>
          <p:cNvPr id="318" name="Google Shape;318;p39"/>
          <p:cNvSpPr txBox="1"/>
          <p:nvPr/>
        </p:nvSpPr>
        <p:spPr>
          <a:xfrm>
            <a:off x="414100" y="863975"/>
            <a:ext cx="51894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-3164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3"/>
              <a:buFont typeface="Gill Sans"/>
              <a:buChar char="●"/>
            </a:pPr>
            <a:r>
              <a:rPr lang="zh-CN" sz="1383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Characterize standard cell library .lib (cadence liberate)</a:t>
            </a:r>
            <a:endParaRPr sz="1383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64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3"/>
              <a:buFont typeface="Gill Sans"/>
              <a:buChar char="●"/>
            </a:pPr>
            <a:r>
              <a:rPr lang="zh-CN" sz="1383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Abstract .lef generation (cadence abstract)</a:t>
            </a:r>
            <a:endParaRPr sz="1383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4286" y="970133"/>
            <a:ext cx="1845761" cy="3898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926" y="2998313"/>
            <a:ext cx="5010109" cy="86646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9"/>
          <p:cNvSpPr txBox="1"/>
          <p:nvPr/>
        </p:nvSpPr>
        <p:spPr>
          <a:xfrm>
            <a:off x="1718233" y="2452384"/>
            <a:ext cx="3533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83">
                <a:solidFill>
                  <a:schemeClr val="dk1"/>
                </a:solidFill>
              </a:rPr>
              <a:t>layout of dfxtp (register) standard cell</a:t>
            </a:r>
            <a:endParaRPr sz="1210"/>
          </a:p>
        </p:txBody>
      </p:sp>
      <p:sp>
        <p:nvSpPr>
          <p:cNvPr id="322" name="Google Shape;322;p39"/>
          <p:cNvSpPr txBox="1"/>
          <p:nvPr/>
        </p:nvSpPr>
        <p:spPr>
          <a:xfrm>
            <a:off x="1829524" y="4038070"/>
            <a:ext cx="30987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025" lIns="79025" spcFirstLastPara="1" rIns="79025" wrap="square" tIns="7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83">
                <a:solidFill>
                  <a:schemeClr val="dk1"/>
                </a:solidFill>
              </a:rPr>
              <a:t>layout of buffer_16 standard cell</a:t>
            </a:r>
            <a:endParaRPr sz="1210"/>
          </a:p>
        </p:txBody>
      </p:sp>
      <p:pic>
        <p:nvPicPr>
          <p:cNvPr id="323" name="Google Shape;32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097" y="1628766"/>
            <a:ext cx="4943787" cy="65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zh-CN"/>
              <a:t>Genus and Innovus Flow</a:t>
            </a:r>
            <a:endParaRPr/>
          </a:p>
        </p:txBody>
      </p:sp>
      <p:pic>
        <p:nvPicPr>
          <p:cNvPr id="329" name="Google Shape;3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900" y="819250"/>
            <a:ext cx="3293575" cy="397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5375" y="819250"/>
            <a:ext cx="2675074" cy="41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zh-CN"/>
              <a:t>Top Level Layout</a:t>
            </a:r>
            <a:endParaRPr/>
          </a:p>
        </p:txBody>
      </p:sp>
      <p:pic>
        <p:nvPicPr>
          <p:cNvPr id="336" name="Google Shape;336;p41"/>
          <p:cNvPicPr preferRelativeResize="0"/>
          <p:nvPr/>
        </p:nvPicPr>
        <p:blipFill rotWithShape="1">
          <a:blip r:embed="rId3">
            <a:alphaModFix/>
          </a:blip>
          <a:srcRect b="6314" l="4644" r="0" t="0"/>
          <a:stretch/>
        </p:blipFill>
        <p:spPr>
          <a:xfrm>
            <a:off x="1113263" y="850225"/>
            <a:ext cx="6917475" cy="36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23">
      <a:dk1>
        <a:srgbClr val="00144D"/>
      </a:dk1>
      <a:lt1>
        <a:srgbClr val="FFFFFF"/>
      </a:lt1>
      <a:dk2>
        <a:srgbClr val="57000A"/>
      </a:dk2>
      <a:lt2>
        <a:srgbClr val="82AFD3"/>
      </a:lt2>
      <a:accent1>
        <a:srgbClr val="95001A"/>
      </a:accent1>
      <a:accent2>
        <a:srgbClr val="C0504D"/>
      </a:accent2>
      <a:accent3>
        <a:srgbClr val="045EA7"/>
      </a:accent3>
      <a:accent4>
        <a:srgbClr val="F2C100"/>
      </a:accent4>
      <a:accent5>
        <a:srgbClr val="00144D"/>
      </a:accent5>
      <a:accent6>
        <a:srgbClr val="44464B"/>
      </a:accent6>
      <a:hlink>
        <a:srgbClr val="00144D"/>
      </a:hlink>
      <a:folHlink>
        <a:srgbClr val="82AF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